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4754880" cy="47548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108960" cy="3108960"/>
          </a:xfrm>
          <a:prstGeom prst="ellipse">
            <a:avLst/>
          </a:prstGeom>
          <a:solidFill>
            <a:srgbClr val="163352"/>
          </a:solidFill>
          <a:ln w="12700">
            <a:solidFill>
              <a:srgbClr val="1633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62940"/>
          </a:solidFill>
          <a:ln w="12700">
            <a:solidFill>
              <a:srgbClr val="162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4747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COMPETITION  ·  FY26 Q2  ·  DEMAND PLANNING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Correlation-Adjusted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Demand Forecast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structured 8-step methodology — Big Deal adjustment · Backtested model selection · Avg Deal correlation clustering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133088"/>
            <a:ext cx="9144000" cy="1010412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464515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39696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39696" y="464515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13632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13632" y="464515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 of History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87568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87568" y="464515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Correlations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61504" y="418795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61504" y="464515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Eight-step walkthrough — from raw data to correlation-adjusted forecast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30352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52144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2435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Validation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78992"/>
            <a:ext cx="530352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152144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5232" y="12435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Deal Adjustment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83664"/>
            <a:ext cx="53035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956816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" y="20482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88366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883664"/>
            <a:ext cx="530352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956816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5232" y="20482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688336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88336"/>
            <a:ext cx="530352" cy="65836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761488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28529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Backtesting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688336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688336"/>
            <a:ext cx="530352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761488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85232" y="28529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Forecast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93008"/>
            <a:ext cx="530352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56616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1832" y="3657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Adjustment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49300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93008"/>
            <a:ext cx="5303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56616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85232" y="3657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Forecast &amp; Export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315968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525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backtested on holdout quarter (FY26 Q1) before forecasting. No ensemble — single best model per product.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INGESTION &amp;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data sources · 30 products · Spot-check validation before any modelling begins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44475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Pack — Actual Bookings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quarters of unit sales (FY23 Q2 → FY26 Q1) for all 30 products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15798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221284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Big Deal Sheet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4871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quarters: Total, Big Deal, and Avg Deal units per product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98094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SCMS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325526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customer segments — Commercial, Enterprise, Public Sector, SP, SMB, Other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69417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374904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VMS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402336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industry verticals — Education, Government, Financial Services, Manufacturing…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10241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3898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89888"/>
            <a:ext cx="475488" cy="7863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517904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21808" y="14630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177393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growing demand — Holt's or WMA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04288"/>
            <a:ext cx="475488" cy="7863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432304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21808" y="23774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268833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downward trend — Linear Regression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18688"/>
            <a:ext cx="475488" cy="78638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346704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21808" y="329184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NPI-Ramp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360273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product, limited history — SES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4224528"/>
            <a:ext cx="41148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Spot-check: #1 FY24 Q2 = 9,437 · #1 FY26 Q1 = 13,144 · #2 FY24 Q2 = 59,424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verified before proceeding to Step 2.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BIG DEAL ADJUSTMENT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Strip irregular large orders before modelling — the most critical data preparation step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Avg Deal Units  =  Raw Bookings  −  Big Deal Units     →     Train model on Avg Deal  +  Add BD overlay separately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715768" cy="2670048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70078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 (&gt;15%)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048256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" y="2560320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816352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Branch 8-Port PoE: 40.5% BD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Core Modular: 45.9% BD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WiFi6E Indoor: 16.8% BD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627632"/>
            <a:ext cx="2715768" cy="2670048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170078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 (5–15%)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82696" y="2048256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products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82696" y="2560320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2816352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Enterprise 48P UPOE: 7.5%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Enterprise 24P PoE+: 8.0%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Ent 24P UPOE: 9.2%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71616" y="1627632"/>
            <a:ext cx="2715768" cy="2670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E6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170078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  (&lt;5%)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344" y="2048256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81344" y="2560320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81344" y="2816352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Core 25G/100G: 3.4%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Ent 25G Fiber: 1.5%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NG_2 &amp; NG_1: 0.0%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3068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matters: Models trained on raw data containing a 40% Big Deal spike will try to replicate that spike in the forecast — producing systematic over-estimation. Big Deals are forecast separately using frequency × average size, then added back as an overlay.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EXPLORATORY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 your data before choosing a model — three key diagnostics per product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15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157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(CV)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Std Dev ÷ Mean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2532888" cy="658368"/>
          </a:xfrm>
          <a:prstGeom prst="rect">
            <a:avLst/>
          </a:prstGeom>
          <a:solidFill>
            <a:srgbClr val="E0F7F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 → Stable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Holt's Linear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253288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0.15–0.30 → Moderate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Holt's or WMA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253288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0.30 → Volatile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WMA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1005840"/>
            <a:ext cx="2715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05840"/>
            <a:ext cx="2715768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0424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Slope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64408" y="149961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slope = Δ units per quarter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4408" y="1847088"/>
            <a:ext cx="2532888" cy="658368"/>
          </a:xfrm>
          <a:prstGeom prst="rect">
            <a:avLst/>
          </a:prstGeom>
          <a:solidFill>
            <a:srgbClr val="E0F7F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90195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+200 → Growing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64408" y="2596896"/>
            <a:ext cx="253288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65176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-200 to +200 → Stable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product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64408" y="3346704"/>
            <a:ext cx="253288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4015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-200 → Declining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Linear Regression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1005840"/>
            <a:ext cx="2715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1005840"/>
            <a:ext cx="2715768" cy="4389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0424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Ratio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63056" y="149961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Peak Q avg ÷ Trough Q avg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3056" y="1847088"/>
            <a:ext cx="2532888" cy="658368"/>
          </a:xfrm>
          <a:prstGeom prst="rect">
            <a:avLst/>
          </a:prstGeom>
          <a:solidFill>
            <a:srgbClr val="E0F7F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190195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1.10 → Flat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seasonal model needed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2596896"/>
            <a:ext cx="253288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65176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1.10–1.30 → Mild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patterns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63056" y="3346704"/>
            <a:ext cx="2532888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4015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1.30 → Strong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seasonal index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3068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 output: Each product is profiled with its CV, trend direction, data completeness (N quarters), and seasonal pattern. This profile drives model assignment in Step 5 — not guesswork.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4A — BIG DEAL CORRELATION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41 strong correlations found · Same customers buying product bundles simultaneously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reveals: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859536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128016" cy="13350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+0.988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4813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Router Enterprise Edge ↔ #15 FW NG_1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correlation. When one gets a Big Deal, the other almost always does too. They are sold as a security + routing bundle to enterprise customers.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Forecast implication: If pipeline confirms a BD for #10, assume #15 is coming too.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871216"/>
            <a:ext cx="859536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71216"/>
            <a:ext cx="128016" cy="13350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626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+0.924 (cluster)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96265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SW 48P UPOE, #2 WiFi6E, #5 WiFi6, #14 WiFi6E Ext, #16 SW 48P PoE+ 10G, #24 SW Ind 8P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 products had Big Deals in ALL 8 of the last 8 quarters simultaneously. They represent a campus networking bundle bought together by large customers.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Forecast implication: Any confirmed BD in this cluster likely involves all 6 products.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3068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Negative correlations also found — e.g. r = −0.81 between Router Branch 4P and Router Edge Aggregation Fiber. When one gets a BD the other typically does not. Budget substitution effect.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 — AVG DEAL CORRELATION ANALYSIS  (THE KEY LAYER)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116 strong structural correlations · More interconnected than Big Deals · Drives forecast adjustment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0515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824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pairs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0.60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2024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789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824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≥ 0.85 positive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1051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789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6824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pairs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budgets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0840" y="1005840"/>
            <a:ext cx="1920240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789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6824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BD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CLUSTERS IDENTIFIED (Union-Find algorithm, r ≥ 0.85):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96896"/>
            <a:ext cx="9144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Core Bundle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SW Core 25G · #8 SW 25G Fiber · #14 WAP WiFi6E Ext · #24 SW Ind 8P PoE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633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 = 0.877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95160" y="26334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rise and fall together as campus infrastructure demand moves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17520"/>
            <a:ext cx="9144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540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Edge Switch Family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3054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 SW 48P PoE+ 10G · #17 SW 24P PoE+ Compact · #29 SW Ind 24P PoE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97880" y="3054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 = 0.926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95160" y="30540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refresh cycles drive all three simultaneously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3438144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38144"/>
            <a:ext cx="9144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Router Security Stack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 FW NG_1 · #21 SW Core 100G/400G · #10 Router Edge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 = 0.844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95160" y="34747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infrastructure co-procurement in enterprise accounts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858768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858768"/>
            <a:ext cx="914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95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Negative: #17 ↔ #22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3895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24P PoE+ Compact (r = −0.894) ↔ IP Phone Enterprise Desk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7880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−0.894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95160" y="38953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compact switches rise, desk phones fall — network modernisation replacing desk phones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3068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These clusters are used in Step 7 to apply a dampened correlation adjustment: if a product's forecast diverges from its cluster's momentum by more than 5%, a 30% correction is applied.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5A — FOUR MODELS BUILT FROM FIRST PRINCIPLES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model is implemented from scratch — parameters optimised via grid search, not defaults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069080" cy="4206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881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— Weighted Moving Average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 = Σ(w_i × y_{T-i}) / Σ(w_i)  |  weights = [1, 2, 3, 4]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linearly increasing weight to more recent quarters. Recent data matters more than distant history.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CV &gt; 0.30 · Volatile products · No clear trend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24128"/>
            <a:ext cx="406908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881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— Simple Exponential Smoothing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499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 = α·y_t + (1−α)·S_{t-1}  |  Forecast = S_T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709160" y="1792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decays older observations. One parameter α controls how fast old data is forgotten. Optimised via grid search over [0.05, 0.95].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2212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NPI-Ramp · Short history (&lt;6 qtrs) · No trend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88336"/>
            <a:ext cx="4069080" cy="42062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523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 — Holt's Linear Trend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163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 = α·y_t + (1−α)(L_{t-1}+T_{t-1})   T_t = β(L_t−L_{t-1}) + (1−β)T_{t-1}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65760" y="34564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both level and trend separately. Two parameters allow it to follow upward or downward movement without overreacting to noise.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38770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Sustaining · Moderate volatility · Trend present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2688336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688336"/>
            <a:ext cx="4069080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7523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— Linear Regression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163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a + b·t  →  Forecast at t = T+1  |  Floor at 0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709160" y="34564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best-fit line extrapolated one period forward. Captures the structural downward trend of declining products without smoothing it away.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09160" y="38770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Decline lifecycle · Strong negative slope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5B — BACKTESTING &amp; MODEL SELECTION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model validated on a real holdout quarter before being trusted for forecasting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DESIGN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6873240" cy="4023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678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— Quarters 1 to 11 (FY23 Q2 → FY25 Q4)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47560" y="1389888"/>
            <a:ext cx="89916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84136" y="1417320"/>
            <a:ext cx="844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0" y="18653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Holdout (FY26 Q1) — actual available for validation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RULE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34747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51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651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assignment: Life Cycle + CV → one of four models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34747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3054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all 4 models on holdout quarter — compute MAPE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34747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564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best backtest model beats the rule-model by &gt; 5 pp → Override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34747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587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selected model on all 12 quarters → FY26 Q2 base forecast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61104"/>
            <a:ext cx="41605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427939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 formula (from Glossary):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1 − |Forecast − Actual| / Actual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= (Forecast − Actual) / Actual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4261104"/>
            <a:ext cx="41605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27939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ensemble blending used — single best model per product is more defensible with only 8–12 quarters of history per product.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BASE FORECAST (FY26 Q2)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Retrain best model on all 12 quarters · Avg Deal series only · Regular recurring demand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VOLUME — FY26 Q1 ACTUAL vs BASE FORECAST: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2194560"/>
        </p:xfrm>
        <a:graphic>
          <a:graphicData uri="http://schemas.openxmlformats.org/drawingml/2006/table">
            <a:tbl>
              <a:tblPr/>
              <a:tblGrid>
                <a:gridCol w="457200"/>
                <a:gridCol w="3474720"/>
                <a:gridCol w="1097280"/>
                <a:gridCol w="822960"/>
                <a:gridCol w="146304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Q1 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Forecast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WiFi6E (Internal) Indoor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WiFi6 (Internal) Indoor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43,188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Phone Enterprise Desk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Enterprise 48-Port UPOE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~14,600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Enterprise 24-Port PoE+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~9,100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FORECAST AVG DEAL, NOT RAW ACTUALS: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4320" y="4059936"/>
            <a:ext cx="27157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437083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series is 2–3× less volatile than raw actuals for HIGH Big Deal products.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72968" y="4059936"/>
            <a:ext cx="27157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82696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Representativeness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82696" y="437083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= repeating customer demand. Raw actuals = demand + luck (whether a large order landed).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71616" y="4059936"/>
            <a:ext cx="27157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1344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81344" y="437083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MAPE on Avg Deal series is consistently lower than on raw actuals for all HIGH-tier products.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CORRELATION ADJUSTMENT  (THE DIFFERENTIATOR)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 momentum drives a dampened correction · Negative pairs are flagged for business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ADJUSTMENT WORKS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Compute product momentum:   momentum = (mean last 2 qtrs) ÷ (mean prior 2 qtrs) − 1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Compute cluster momentum:   avg of member momentums (Union-Find clusters from Step 4)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Divergence = cluster_momentum − own_momentum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If |divergence| &gt; 5%:   Adj Factor = 0.30 × divergence   (capped at ±15%)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Corr-Adj Forecast = Base Forecast × (1 + Adj Factor)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Campus Core Bundle Cluster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members: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127248" y="2834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· #8 · #14 · #24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7432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momentum: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127248" y="3163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 (rising)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7432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#8 own momentum: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127248" y="3493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+1.2% (flat)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7432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Divergence: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127248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 − 1.2% = +7.2%  &gt;  5% threshold → Adjust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7432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Factor: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127248" y="41513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× 7.2% = +2.16%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74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127248" y="4480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FC = 3,200  →  Corr-Adj FC = 3,269  (+69 units)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3068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Conservative design: dampening factor = 0.30, cap = ±15%. We apply only 30% of the cluster's signal — avoiding over-correction on sparse data. Negative correlation pairs are flagged for human review, not automatically adjusted.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FINAL FORECAST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 Forecast + Correlation Adjustment + Big Deal Overlay = Final Forecast FY26 Q2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Forecast  =  Base FC (Avg Deal model)  +  Correlation Adjustment  +  Big Deal Overlay  ±  Confidence Range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192024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7335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~265K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2768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(units)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600200"/>
            <a:ext cx="192024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7335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±MAPE%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2768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Range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1920240" cy="10515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67335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22768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forecast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20840" y="1600200"/>
            <a:ext cx="1920240" cy="105156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67335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4-sheet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22768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tracker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27980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TIERS — HOW SURE ARE WE?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27248"/>
          <a:ext cx="8595360" cy="1024128"/>
        </p:xfrm>
        <a:graphic>
          <a:graphicData uri="http://schemas.openxmlformats.org/drawingml/2006/table">
            <a:tbl>
              <a:tblPr/>
              <a:tblGrid>
                <a:gridCol w="1097280"/>
                <a:gridCol w="3840480"/>
                <a:gridCol w="1097280"/>
                <a:gridCol w="2560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&lt; 10% AND BD &lt; 10% AND Sustaining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Rely on this 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10–20% OR BD 10–20%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pipeline for BD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&gt; 20% OR BD &gt; 20% OR Decline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range — business input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43068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Output: 4-sheet Excel workbook — (1) Final Forecast with confidence ranges, (2) All 4 models vs 3 team forecasts, (3) Top 30 Avg Deal correlations, (4) Live accuracy tracker — paste actuals in yellow column when FY26 Q2 lands.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MODEL COMPARES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methodology vs standard approaches — every decision is documented and defensible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74904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011680"/>
                <a:gridCol w="2468880"/>
              </a:tblGrid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Planning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actuals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or partially adjusted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Big Deal adjusted — Avg Deal series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judgement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ML model portfolio-wide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4 models, backtest-selected per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ensemble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No — single best model, more defensible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Avg Deal cluster momentum adjustment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Confidence range ± MAPE% per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signals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modelled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modelled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Negative correlation pairs flagged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 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Jupyter Notebook — fully reproducible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Post-forecast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Live accuracy tracker + post-review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KEY DECISIONS 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modelling choice documented with its rationale — analytical transparency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1152144"/>
            <a:ext cx="658368" cy="23774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1521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Big Deal before modelling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4264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13/30 products have &gt;15% BD exposure. Raw actuals systematically over-estimate baseline demand.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1078992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152144"/>
            <a:ext cx="658368" cy="23774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1521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27448" y="1152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 product (not one-size)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27448" y="14264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Sustaining, Decline, and NPI-Ramp products behave fundamentally differently. One model misses all three.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883664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1956816"/>
            <a:ext cx="658368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956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4048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ensemble blending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2311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8–12 quarters, ensemble complexity is not justified. Backtested single model is more transparent and defensible.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1883664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956816"/>
            <a:ext cx="658368" cy="23774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956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27448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on holdout Q12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27448" y="22311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 quarters available. One holdout (Q12 = FY26 Q1) is the practical maximum. Prevents model gaming.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688336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2761488"/>
            <a:ext cx="658368" cy="23774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7614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2761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adjustment (30% dampening)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30358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apply only 30% of cluster signal to avoid over-correction on sparse data. Cap at ±15%.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2688336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2761488"/>
            <a:ext cx="658368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27614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only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27448" y="2761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 → flag, not adjust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7448" y="30358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 to quantify a budget substitution adjustment reliably. Human review required.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93008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3566160"/>
            <a:ext cx="658368" cy="23774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35661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4048" y="3566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range = ±MAPE% (min 8%)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uncertainty. Floor prevents overconfidence for products with low backtest MAPE.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493008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3566160"/>
            <a:ext cx="658368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35661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27448" y="3566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overlay = Freq × Avg Size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27448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when pipeline data unavailable. Replace with CRM-confirmed orders for production forecasting.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5486400" cy="5486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62940"/>
          </a:solidFill>
          <a:ln w="12700">
            <a:solidFill>
              <a:srgbClr val="162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Correlation-Adjusted Demand Forecast  ·  FY26 Q2  ·  30 Products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04288"/>
            <a:ext cx="1691640" cy="1234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2395728"/>
            <a:ext cx="158191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2928" y="2304288"/>
            <a:ext cx="169164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07792" y="2395728"/>
            <a:ext cx="158191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91456" y="2304288"/>
            <a:ext cx="1691640" cy="1234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395728"/>
            <a:ext cx="158191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9984" y="2304288"/>
            <a:ext cx="1691640" cy="123444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2395728"/>
            <a:ext cx="158191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· Excel Output (4 sheets) · Accuracy Tracker · Correlation Heatmaps — all available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Q2 Correlation-Adjusted Demand Forecast</dc:title>
  <dc:subject>PptxGenJS Presentation</dc:subject>
  <dc:creator>Forecasting Team</dc:creator>
  <cp:lastModifiedBy>Forecasting Team</cp:lastModifiedBy>
  <cp:revision>1</cp:revision>
  <dcterms:created xsi:type="dcterms:W3CDTF">2026-03-22T14:08:03Z</dcterms:created>
  <dcterms:modified xsi:type="dcterms:W3CDTF">2026-03-22T14:08:03Z</dcterms:modified>
</cp:coreProperties>
</file>